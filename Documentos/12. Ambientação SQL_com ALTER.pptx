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14DB8-3268-481A-A342-74BB5365D483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E0AAD-B747-455A-B0BD-3AAE41AFB9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02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E0AAD-B747-455A-B0BD-3AAE41AFB99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04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8E0AAD-B747-455A-B0BD-3AAE41AFB993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57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de cantos arredondado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20" name="Subtítulo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19" name="Espaço Reservado para Data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de cantos arredondado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Arredondar Retângulo em um Canto Único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de cantos arredondados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spaço Reservado para Título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25" name="Espaço Reservado para Data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pPr/>
              <a:t>26/01/2025</a:t>
            </a:fld>
            <a:endParaRPr lang="pt-BR"/>
          </a:p>
        </p:txBody>
      </p:sp>
      <p:sp>
        <p:nvSpPr>
          <p:cNvPr id="18" name="Espaço Reservado para Rodapé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ostgresql.org.br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pt-BR" dirty="0"/>
            </a:br>
            <a:r>
              <a:rPr lang="pt-BR" dirty="0"/>
              <a:t>“Ambientação SQL”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 err="1"/>
              <a:t>Profa</a:t>
            </a:r>
            <a:r>
              <a:rPr lang="pt-BR" sz="2000" dirty="0"/>
              <a:t> </a:t>
            </a:r>
            <a:r>
              <a:rPr lang="pt-BR" sz="2000" dirty="0" err="1"/>
              <a:t>MsC</a:t>
            </a:r>
            <a:r>
              <a:rPr lang="pt-BR" sz="2000" dirty="0"/>
              <a:t> Josyane Lannes Florenzano de Souza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062C3E6-202D-4C28-B956-3C95A9335BC2}"/>
              </a:ext>
            </a:extLst>
          </p:cNvPr>
          <p:cNvSpPr/>
          <p:nvPr/>
        </p:nvSpPr>
        <p:spPr>
          <a:xfrm>
            <a:off x="611560" y="5013176"/>
            <a:ext cx="7883216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DDL: Alter </a:t>
            </a:r>
            <a:r>
              <a:rPr lang="pt-BR" dirty="0" err="1"/>
              <a:t>table,Create</a:t>
            </a:r>
            <a:r>
              <a:rPr lang="pt-BR" dirty="0"/>
              <a:t>, </a:t>
            </a:r>
            <a:r>
              <a:rPr lang="pt-BR" dirty="0" err="1"/>
              <a:t>drop</a:t>
            </a:r>
            <a:endParaRPr lang="pt-BR" dirty="0"/>
          </a:p>
          <a:p>
            <a:pPr algn="ctr"/>
            <a:r>
              <a:rPr lang="pt-BR" dirty="0"/>
              <a:t>DML: </a:t>
            </a:r>
            <a:r>
              <a:rPr lang="pt-BR" dirty="0" err="1"/>
              <a:t>Insert</a:t>
            </a:r>
            <a:r>
              <a:rPr lang="pt-BR" dirty="0"/>
              <a:t>, </a:t>
            </a:r>
            <a:r>
              <a:rPr lang="pt-BR" dirty="0" err="1"/>
              <a:t>select</a:t>
            </a:r>
            <a:r>
              <a:rPr lang="pt-BR" dirty="0"/>
              <a:t>, Delete,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033E6-B0A3-3B24-251E-B7AD6A48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401776"/>
            <a:ext cx="8183880" cy="1051560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SGBDs</a:t>
            </a:r>
            <a:r>
              <a:rPr lang="pt-BR" dirty="0"/>
              <a:t> do mercado</a:t>
            </a:r>
            <a:br>
              <a:rPr lang="pt-BR" dirty="0"/>
            </a:br>
            <a:endParaRPr lang="pt-B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B98ACFC-1A6F-3CF5-9FBB-9F787C17A069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lvl1pPr marL="265176" indent="-265176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168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384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128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784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7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endParaRPr lang="pt-BR" dirty="0"/>
          </a:p>
        </p:txBody>
      </p:sp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E95FBBD8-0B7E-6335-4C2A-72081C5E4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463" y="467806"/>
            <a:ext cx="3269434" cy="2430991"/>
          </a:xfrm>
          <a:prstGeom prst="rect">
            <a:avLst/>
          </a:prstGeom>
        </p:spPr>
      </p:pic>
      <p:pic>
        <p:nvPicPr>
          <p:cNvPr id="6" name="Imagem 5" descr="Interface gráfica do usuário, Aplicativo, Tabela&#10;&#10;Descrição gerada automaticamente">
            <a:extLst>
              <a:ext uri="{FF2B5EF4-FFF2-40B4-BE49-F238E27FC236}">
                <a16:creationId xmlns:a16="http://schemas.microsoft.com/office/drawing/2014/main" id="{23934BFC-0841-6F17-7932-1165E52EC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898797"/>
            <a:ext cx="6050804" cy="24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6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a) Ambientação</a:t>
            </a:r>
            <a:endParaRPr lang="pt-BR" dirty="0"/>
          </a:p>
          <a:p>
            <a:pPr>
              <a:buNone/>
            </a:pPr>
            <a:r>
              <a:rPr lang="pt-BR" dirty="0"/>
              <a:t>	Conhecer o software de banco de dados que será utilizado para absorver o aprendizado teórico. </a:t>
            </a:r>
          </a:p>
          <a:p>
            <a:pPr>
              <a:buNone/>
            </a:pPr>
            <a:r>
              <a:rPr lang="pt-BR" dirty="0"/>
              <a:t>	- Ver documentação em</a:t>
            </a:r>
          </a:p>
          <a:p>
            <a:pPr>
              <a:buNone/>
            </a:pPr>
            <a:r>
              <a:rPr lang="pt-BR" dirty="0">
                <a:hlinkClick r:id="rId3"/>
              </a:rPr>
              <a:t>www.oracle.com</a:t>
            </a:r>
            <a:r>
              <a:rPr lang="pt-BR" dirty="0"/>
              <a:t> e </a:t>
            </a:r>
            <a:r>
              <a:rPr lang="pt-BR" dirty="0">
                <a:hlinkClick r:id="rId4"/>
              </a:rPr>
              <a:t>http://www.postgresql.org.br/</a:t>
            </a:r>
            <a:endParaRPr lang="pt-BR" dirty="0"/>
          </a:p>
          <a:p>
            <a:pPr>
              <a:buNone/>
            </a:pPr>
            <a:r>
              <a:rPr lang="pt-BR" dirty="0"/>
              <a:t>mysql.com (hoje pertence a </a:t>
            </a:r>
            <a:r>
              <a:rPr lang="pt-BR" dirty="0" err="1"/>
              <a:t>oracle</a:t>
            </a:r>
            <a:r>
              <a:rPr lang="pt-BR" dirty="0"/>
              <a:t>)</a:t>
            </a:r>
          </a:p>
          <a:p>
            <a:pPr>
              <a:buNone/>
            </a:pPr>
            <a:r>
              <a:rPr lang="pt-BR" dirty="0"/>
              <a:t>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b) Descrevendo tabelas</a:t>
            </a:r>
            <a:endParaRPr lang="pt-BR" dirty="0"/>
          </a:p>
          <a:p>
            <a:pPr>
              <a:buNone/>
            </a:pPr>
            <a:r>
              <a:rPr lang="pt-BR" dirty="0"/>
              <a:t>	A tabela é a forma básica de armazenamento da informação em um SGBD relacional. </a:t>
            </a:r>
          </a:p>
          <a:p>
            <a:pPr>
              <a:buNone/>
            </a:pPr>
            <a:r>
              <a:rPr lang="pt-BR" dirty="0"/>
              <a:t>	O comando SQL </a:t>
            </a:r>
            <a:r>
              <a:rPr lang="pt-BR" b="1" u="sng" dirty="0"/>
              <a:t>CREATE TABLE </a:t>
            </a:r>
            <a:r>
              <a:rPr lang="pt-BR" dirty="0"/>
              <a:t>é usado para especificar o objeto tabela, dando-lhe um nome e especificando seus atributos e restrições iniciais.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c) Criando tabelas</a:t>
            </a:r>
            <a:endParaRPr lang="pt-BR" dirty="0"/>
          </a:p>
          <a:p>
            <a:pPr lvl="1"/>
            <a:r>
              <a:rPr lang="pt-BR" dirty="0"/>
              <a:t>Uma tabela pode ser criada a qualquer momento, até mesmo se os usuários estiverem usando o banco de dados.</a:t>
            </a:r>
          </a:p>
          <a:p>
            <a:pPr lvl="1"/>
            <a:r>
              <a:rPr lang="pt-BR" dirty="0"/>
              <a:t>Sintaxe: CREATE TABLE </a:t>
            </a:r>
            <a:r>
              <a:rPr lang="pt-BR" dirty="0" err="1"/>
              <a:t>nome-da-tabela</a:t>
            </a:r>
            <a:r>
              <a:rPr lang="pt-BR" dirty="0"/>
              <a:t>(col1 </a:t>
            </a:r>
            <a:r>
              <a:rPr lang="pt-BR" dirty="0" err="1"/>
              <a:t>tipo-de-dado</a:t>
            </a:r>
            <a:r>
              <a:rPr lang="pt-BR" dirty="0"/>
              <a:t>(tamanho), . . .)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d) Os principais tipos de Dados de Atributos</a:t>
            </a:r>
            <a:endParaRPr lang="pt-BR" dirty="0"/>
          </a:p>
          <a:p>
            <a:endParaRPr lang="pt-BR" dirty="0"/>
          </a:p>
          <a:p>
            <a:r>
              <a:rPr lang="pt-BR" dirty="0"/>
              <a:t>Numéricos – usados para armazenar números inteiros de vários tamanhos (</a:t>
            </a:r>
            <a:r>
              <a:rPr lang="pt-BR" dirty="0" err="1"/>
              <a:t>integer</a:t>
            </a:r>
            <a:r>
              <a:rPr lang="pt-BR" dirty="0"/>
              <a:t>, </a:t>
            </a:r>
            <a:r>
              <a:rPr lang="pt-BR" dirty="0" err="1"/>
              <a:t>smallint</a:t>
            </a:r>
            <a:r>
              <a:rPr lang="pt-BR" dirty="0"/>
              <a:t>, </a:t>
            </a:r>
            <a:r>
              <a:rPr lang="pt-BR" dirty="0" err="1"/>
              <a:t>bigint</a:t>
            </a:r>
            <a:r>
              <a:rPr lang="pt-BR" dirty="0"/>
              <a:t>), os de ponto flutuante (</a:t>
            </a:r>
            <a:r>
              <a:rPr lang="pt-BR" dirty="0" err="1"/>
              <a:t>Float</a:t>
            </a:r>
            <a:r>
              <a:rPr lang="pt-BR" dirty="0"/>
              <a:t>, ou real e Double </a:t>
            </a:r>
            <a:r>
              <a:rPr lang="pt-BR" dirty="0" err="1"/>
              <a:t>precision</a:t>
            </a:r>
            <a:r>
              <a:rPr lang="pt-BR" dirty="0"/>
              <a:t>) e os de precisão pode ser especificado pelo usuário (</a:t>
            </a:r>
            <a:r>
              <a:rPr lang="pt-BR" dirty="0" err="1"/>
              <a:t>numeric</a:t>
            </a:r>
            <a:r>
              <a:rPr lang="pt-BR" dirty="0"/>
              <a:t>, </a:t>
            </a:r>
            <a:r>
              <a:rPr lang="pt-BR" dirty="0" err="1"/>
              <a:t>number</a:t>
            </a:r>
            <a:r>
              <a:rPr lang="pt-BR" dirty="0"/>
              <a:t>, decimal);</a:t>
            </a:r>
          </a:p>
          <a:p>
            <a:endParaRPr lang="pt-BR" dirty="0"/>
          </a:p>
          <a:p>
            <a:pPr lvl="1"/>
            <a:r>
              <a:rPr lang="pt-BR" dirty="0"/>
              <a:t>Ex: </a:t>
            </a:r>
            <a:r>
              <a:rPr lang="pt-BR" dirty="0" err="1"/>
              <a:t>number</a:t>
            </a:r>
            <a:r>
              <a:rPr lang="pt-BR" dirty="0"/>
              <a:t> (3) – pode-se armazenar um número inteiro de no máximo 3 dígitos. </a:t>
            </a:r>
          </a:p>
          <a:p>
            <a:r>
              <a:rPr lang="pt-BR" dirty="0" err="1"/>
              <a:t>Number</a:t>
            </a:r>
            <a:r>
              <a:rPr lang="pt-BR" dirty="0"/>
              <a:t> (5,2) – pode-se armazenar um número de 5 dígitos com 2 números de dígitos à direita do ponto decimal.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Cadeia de caracteres – usado para armazenar caracteres de tamanho fixo, CHAR(tamanho) ou os de tamanho variável, VARCHAR(tamanho);</a:t>
            </a:r>
          </a:p>
          <a:p>
            <a:pPr lvl="1"/>
            <a:r>
              <a:rPr lang="pt-BR" dirty="0"/>
              <a:t>Ex: </a:t>
            </a:r>
            <a:r>
              <a:rPr lang="pt-BR" dirty="0" err="1"/>
              <a:t>char</a:t>
            </a:r>
            <a:r>
              <a:rPr lang="pt-BR" dirty="0"/>
              <a:t>(10) – ocupará sempre o tamanho(10) máximo estabelecido de caracteres.</a:t>
            </a:r>
          </a:p>
          <a:p>
            <a:r>
              <a:rPr lang="pt-BR" dirty="0" err="1"/>
              <a:t>Varchar</a:t>
            </a:r>
            <a:r>
              <a:rPr lang="pt-BR" dirty="0"/>
              <a:t>(10) – ocupará no máximo o tamanho(10) estabelecido de caracteres, podendo ocupar menos caso o valor armazenado seja menor. É conhecido como efeito sanfona, ocupando apenas o tamanho do conteúdo armazenado; </a:t>
            </a:r>
          </a:p>
          <a:p>
            <a:r>
              <a:rPr lang="pt-BR" dirty="0"/>
              <a:t>Date – usado para armazenar valores de data (YYYY-MM-DD) e hora (HH:MM:SS). Neste tipo de dado não se especifica o tamanho. Ex: date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exemplo a seguir cria a tabela de nome “</a:t>
            </a:r>
            <a:r>
              <a:rPr lang="pt-BR" dirty="0" err="1"/>
              <a:t>minha_primeira_tabela</a:t>
            </a:r>
            <a:r>
              <a:rPr lang="pt-BR" dirty="0"/>
              <a:t>” com duas colunas. </a:t>
            </a:r>
          </a:p>
          <a:p>
            <a:r>
              <a:rPr lang="pt-BR" dirty="0"/>
              <a:t>A primeira coluna possui o nome “</a:t>
            </a:r>
            <a:r>
              <a:rPr lang="pt-BR" dirty="0" err="1"/>
              <a:t>primeira_coluna</a:t>
            </a:r>
            <a:r>
              <a:rPr lang="pt-BR" dirty="0"/>
              <a:t>” e têm o tipo de dado inteiro; A segunda coluna possui o nome “</a:t>
            </a:r>
            <a:r>
              <a:rPr lang="pt-BR" dirty="0" err="1"/>
              <a:t>segunda_coluna</a:t>
            </a:r>
            <a:r>
              <a:rPr lang="pt-BR" dirty="0"/>
              <a:t> e têm o tipo de dado </a:t>
            </a:r>
            <a:r>
              <a:rPr lang="pt-BR" dirty="0" err="1"/>
              <a:t>caracter</a:t>
            </a:r>
            <a:r>
              <a:rPr lang="pt-BR" dirty="0"/>
              <a:t> com o tamanho 10.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sz="3600" b="1" u="sng" dirty="0"/>
              <a:t>Ex:</a:t>
            </a:r>
            <a:r>
              <a:rPr lang="pt-BR" dirty="0"/>
              <a:t> </a:t>
            </a:r>
          </a:p>
          <a:p>
            <a:r>
              <a:rPr lang="pt-BR" dirty="0"/>
              <a:t>CREATE TABLE </a:t>
            </a:r>
            <a:r>
              <a:rPr lang="pt-BR" dirty="0" err="1"/>
              <a:t>minha_primeira_tabela</a:t>
            </a:r>
            <a:r>
              <a:rPr lang="pt-BR" dirty="0"/>
              <a:t> (</a:t>
            </a:r>
            <a:r>
              <a:rPr lang="pt-BR" dirty="0" err="1"/>
              <a:t>primeira_coluna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, </a:t>
            </a:r>
            <a:r>
              <a:rPr lang="pt-BR" dirty="0" err="1"/>
              <a:t>segunda_coluna</a:t>
            </a:r>
            <a:r>
              <a:rPr lang="pt-BR" dirty="0"/>
              <a:t> </a:t>
            </a:r>
            <a:r>
              <a:rPr lang="pt-BR" dirty="0" err="1"/>
              <a:t>char</a:t>
            </a:r>
            <a:r>
              <a:rPr lang="pt-BR" dirty="0"/>
              <a:t>(10));</a:t>
            </a:r>
          </a:p>
          <a:p>
            <a:endParaRPr lang="pt-BR" dirty="0"/>
          </a:p>
          <a:p>
            <a:r>
              <a:rPr lang="pt-BR" dirty="0" err="1"/>
              <a:t>Obs</a:t>
            </a:r>
            <a:r>
              <a:rPr lang="pt-BR" dirty="0"/>
              <a:t>: existe outros tipos de dados!!!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e) Principais ações de administração de tabelas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Eliminando tabelas</a:t>
            </a:r>
            <a:endParaRPr lang="pt-BR" dirty="0"/>
          </a:p>
          <a:p>
            <a:pPr lvl="1"/>
            <a:r>
              <a:rPr lang="pt-BR" dirty="0"/>
              <a:t>Para remover uma tabela já existente, basta executar o comando DROP TABLE.</a:t>
            </a:r>
          </a:p>
          <a:p>
            <a:pPr lvl="1"/>
            <a:r>
              <a:rPr lang="pt-BR" dirty="0"/>
              <a:t>EX: DROP TABLE 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dirty="0" err="1"/>
              <a:t>minha_primeira_tabela</a:t>
            </a:r>
            <a:r>
              <a:rPr lang="pt-BR" dirty="0"/>
              <a:t>;</a:t>
            </a:r>
          </a:p>
          <a:p>
            <a:r>
              <a:rPr lang="pt-BR" b="1" dirty="0" err="1"/>
              <a:t>Renomeando</a:t>
            </a:r>
            <a:r>
              <a:rPr lang="pt-BR" b="1" dirty="0"/>
              <a:t> tabelas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É possível trocar o nome de uma tabela através do comando RENAME.</a:t>
            </a:r>
          </a:p>
          <a:p>
            <a:pPr lvl="1"/>
            <a:r>
              <a:rPr lang="pt-BR" dirty="0"/>
              <a:t>Ex: RENAME TABLE </a:t>
            </a:r>
            <a:r>
              <a:rPr lang="pt-BR" dirty="0" err="1"/>
              <a:t>minha_primeira_tabela</a:t>
            </a:r>
            <a:r>
              <a:rPr lang="pt-BR" dirty="0"/>
              <a:t> TO </a:t>
            </a:r>
            <a:r>
              <a:rPr lang="pt-BR" dirty="0" err="1"/>
              <a:t>minha_primeira_tabela_renomeada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Outros exemplos: </a:t>
            </a:r>
            <a:r>
              <a:rPr lang="en-US" dirty="0"/>
              <a:t>RENAME TABLE tb1 TO tb2;</a:t>
            </a:r>
          </a:p>
          <a:p>
            <a:pPr lvl="1"/>
            <a:r>
              <a:rPr lang="en-US" dirty="0"/>
              <a:t>RENAME TABLE tb1 TO tb2, tb3 TO tb4;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/>
              <a:t>Alterando tabelas</a:t>
            </a:r>
            <a:endParaRPr lang="pt-BR" dirty="0"/>
          </a:p>
          <a:p>
            <a:pPr lvl="1"/>
            <a:r>
              <a:rPr lang="pt-BR" dirty="0"/>
              <a:t>Após criar suas tabelas, talvez você precise alterar a estrutura da tabela porque surgiu a necessidade de uma coluna ou a definição da coluna precisa ser modificada. Pode-se modificar uma tabela já existente através do comando ALTER TABLE.</a:t>
            </a:r>
          </a:p>
          <a:p>
            <a:r>
              <a:rPr lang="pt-BR" dirty="0"/>
              <a:t>Para as tabelas básicas, as ações possíveis compreendem: adicionar ou eliminar uma coluna (atributo), alterar a definição de uma coluna e adicionar restrições na tabela.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9552" y="260648"/>
            <a:ext cx="8183880" cy="41879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/>
              <a:t>Exemplos:</a:t>
            </a:r>
          </a:p>
          <a:p>
            <a:r>
              <a:rPr lang="pt-BR" sz="1800" dirty="0"/>
              <a:t>e.1) Adicionando uma nova coluna</a:t>
            </a:r>
          </a:p>
          <a:p>
            <a:pPr lvl="1"/>
            <a:r>
              <a:rPr lang="pt-BR" sz="1400" dirty="0"/>
              <a:t>Usando a cláusula ADD para acrescentar uma nova coluna na tabela.</a:t>
            </a:r>
          </a:p>
          <a:p>
            <a:pPr lvl="1"/>
            <a:r>
              <a:rPr lang="pt-BR" sz="1400" dirty="0"/>
              <a:t>Ex: ALTER TABLE </a:t>
            </a:r>
            <a:r>
              <a:rPr lang="pt-BR" sz="1400" dirty="0" err="1"/>
              <a:t>minha_primeira_tabela_renomeada</a:t>
            </a:r>
            <a:r>
              <a:rPr lang="pt-BR" sz="1400" dirty="0"/>
              <a:t> </a:t>
            </a:r>
          </a:p>
          <a:p>
            <a:pPr lvl="1"/>
            <a:r>
              <a:rPr lang="pt-BR" sz="1400" dirty="0"/>
              <a:t>ADD </a:t>
            </a:r>
            <a:r>
              <a:rPr lang="pt-BR" sz="1400" dirty="0" err="1"/>
              <a:t>terceira_coluna</a:t>
            </a:r>
            <a:r>
              <a:rPr lang="pt-BR" sz="1400" dirty="0"/>
              <a:t> </a:t>
            </a:r>
            <a:r>
              <a:rPr lang="pt-BR" sz="1400" dirty="0" err="1"/>
              <a:t>char</a:t>
            </a:r>
            <a:r>
              <a:rPr lang="pt-BR" sz="1400" dirty="0"/>
              <a:t>(50);</a:t>
            </a:r>
          </a:p>
          <a:p>
            <a:endParaRPr lang="pt-BR" sz="1800" dirty="0"/>
          </a:p>
          <a:p>
            <a:r>
              <a:rPr lang="pt-BR" sz="1800" dirty="0"/>
              <a:t>e.2) Modificando o nome do campo</a:t>
            </a:r>
          </a:p>
          <a:p>
            <a:pPr lvl="1"/>
            <a:r>
              <a:rPr lang="pt-BR" sz="1400" dirty="0"/>
              <a:t>Usando a cláusula ALTER para modificar o tipo de dado da coluna “</a:t>
            </a:r>
            <a:r>
              <a:rPr lang="pt-BR" sz="1400" dirty="0" err="1"/>
              <a:t>segundo_coluna</a:t>
            </a:r>
            <a:r>
              <a:rPr lang="pt-BR" sz="1400" dirty="0"/>
              <a:t>”.</a:t>
            </a:r>
          </a:p>
          <a:p>
            <a:pPr lvl="1"/>
            <a:r>
              <a:rPr lang="pt-BR" sz="1400" dirty="0"/>
              <a:t>Ex: ALTER TABLE </a:t>
            </a:r>
            <a:r>
              <a:rPr lang="pt-BR" sz="1400" dirty="0" err="1"/>
              <a:t>minha_primeira_tabela_renomeada</a:t>
            </a:r>
            <a:endParaRPr lang="pt-BR" sz="1400" dirty="0"/>
          </a:p>
          <a:p>
            <a:pPr lvl="1"/>
            <a:r>
              <a:rPr lang="pt-BR" sz="1400" dirty="0"/>
              <a:t>ALTER </a:t>
            </a:r>
            <a:r>
              <a:rPr lang="pt-BR" sz="1400" dirty="0" err="1"/>
              <a:t>terceiraNovoNome_coluna</a:t>
            </a:r>
            <a:r>
              <a:rPr lang="pt-BR" sz="1400" dirty="0"/>
              <a:t> </a:t>
            </a:r>
            <a:r>
              <a:rPr lang="pt-BR" sz="1400" dirty="0" err="1"/>
              <a:t>varchar</a:t>
            </a:r>
            <a:r>
              <a:rPr lang="pt-BR" sz="1400" dirty="0"/>
              <a:t>(100);</a:t>
            </a:r>
          </a:p>
          <a:p>
            <a:endParaRPr lang="pt-BR" sz="1800" dirty="0"/>
          </a:p>
          <a:p>
            <a:r>
              <a:rPr lang="pt-BR" sz="1800" dirty="0"/>
              <a:t>e.3) Eliminando uma coluna</a:t>
            </a:r>
          </a:p>
          <a:p>
            <a:pPr lvl="1"/>
            <a:r>
              <a:rPr lang="pt-BR" sz="1400" dirty="0"/>
              <a:t>Usando a cláusula DROP para eliminar uma coluna da tabela.</a:t>
            </a:r>
          </a:p>
          <a:p>
            <a:pPr lvl="1"/>
            <a:r>
              <a:rPr lang="pt-BR" sz="1400" dirty="0"/>
              <a:t>Ex: ALTER TABLE </a:t>
            </a:r>
            <a:r>
              <a:rPr lang="pt-BR" sz="1400" dirty="0" err="1"/>
              <a:t>minha_primeira_tabela_renomeada</a:t>
            </a:r>
            <a:endParaRPr lang="pt-BR" sz="1400" dirty="0"/>
          </a:p>
          <a:p>
            <a:pPr lvl="1"/>
            <a:r>
              <a:rPr lang="pt-BR" sz="1400" dirty="0"/>
              <a:t>DROP </a:t>
            </a:r>
            <a:r>
              <a:rPr lang="pt-BR" sz="1400" dirty="0" err="1"/>
              <a:t>column</a:t>
            </a:r>
            <a:r>
              <a:rPr lang="pt-BR" sz="1400" dirty="0"/>
              <a:t> </a:t>
            </a:r>
            <a:r>
              <a:rPr lang="pt-BR" sz="1400" dirty="0" err="1"/>
              <a:t>terceira_coluna</a:t>
            </a:r>
            <a:r>
              <a:rPr lang="pt-BR" sz="1400" dirty="0"/>
              <a:t>;</a:t>
            </a:r>
          </a:p>
          <a:p>
            <a:pPr lvl="1"/>
            <a:endParaRPr lang="pt-BR" sz="1400" dirty="0"/>
          </a:p>
          <a:p>
            <a:r>
              <a:rPr lang="pt-BR" sz="1800" dirty="0"/>
              <a:t>e.4) Alterando restrições (</a:t>
            </a:r>
            <a:r>
              <a:rPr lang="pt-BR" sz="1800" dirty="0" err="1"/>
              <a:t>ex</a:t>
            </a:r>
            <a:r>
              <a:rPr lang="pt-BR" sz="1800" dirty="0"/>
              <a:t>: auto incremento)</a:t>
            </a:r>
          </a:p>
          <a:p>
            <a:pPr lvl="1"/>
            <a:r>
              <a:rPr lang="pt-BR" sz="1400" dirty="0"/>
              <a:t>ALTER TABLE </a:t>
            </a:r>
            <a:r>
              <a:rPr lang="pt-BR" sz="1400" dirty="0" err="1"/>
              <a:t>nome_table</a:t>
            </a:r>
            <a:r>
              <a:rPr lang="pt-BR" sz="1400" dirty="0"/>
              <a:t> CHANGE </a:t>
            </a:r>
            <a:r>
              <a:rPr lang="pt-BR" sz="1400" dirty="0" err="1"/>
              <a:t>nome_coluna</a:t>
            </a:r>
            <a:r>
              <a:rPr lang="pt-BR" sz="1400" dirty="0"/>
              <a:t> </a:t>
            </a:r>
            <a:r>
              <a:rPr lang="pt-BR" sz="1400" dirty="0" err="1"/>
              <a:t>nome_coluna</a:t>
            </a:r>
            <a:r>
              <a:rPr lang="pt-BR" sz="1400" dirty="0"/>
              <a:t> tipo </a:t>
            </a:r>
            <a:r>
              <a:rPr lang="pt-BR" sz="1400" dirty="0" err="1"/>
              <a:t>not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 </a:t>
            </a:r>
            <a:r>
              <a:rPr lang="pt-BR" sz="1400" dirty="0" err="1"/>
              <a:t>auto_increment</a:t>
            </a:r>
            <a:endParaRPr lang="pt-BR" sz="1400" dirty="0"/>
          </a:p>
          <a:p>
            <a:pPr lvl="1"/>
            <a:endParaRPr lang="pt-BR" sz="1400" dirty="0"/>
          </a:p>
          <a:p>
            <a:r>
              <a:rPr lang="pt-BR" sz="1800" dirty="0"/>
              <a:t>e.5) Alterando tipo do campo</a:t>
            </a:r>
          </a:p>
          <a:p>
            <a:pPr lvl="1"/>
            <a:r>
              <a:rPr lang="pt-BR" sz="1400" dirty="0"/>
              <a:t>ALTER TABLE MODIFY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7472" lvl="1" indent="0">
              <a:buNone/>
            </a:pPr>
            <a:endParaRPr lang="en-US" dirty="0"/>
          </a:p>
          <a:p>
            <a:pPr marL="347472" lvl="1" indent="0">
              <a:buNone/>
            </a:pPr>
            <a:r>
              <a:rPr lang="pt-BR" dirty="0"/>
              <a:t>Acesso:</a:t>
            </a:r>
          </a:p>
          <a:p>
            <a:pPr marL="347472" lvl="1" indent="0">
              <a:buNone/>
            </a:pPr>
            <a:r>
              <a:rPr lang="pt-BR" dirty="0"/>
              <a:t>Clicar </a:t>
            </a:r>
            <a:r>
              <a:rPr lang="pt-BR" dirty="0" err="1"/>
              <a:t>Mysql</a:t>
            </a:r>
            <a:r>
              <a:rPr lang="pt-BR" dirty="0"/>
              <a:t> </a:t>
            </a:r>
            <a:r>
              <a:rPr lang="pt-BR" dirty="0" err="1"/>
              <a:t>Comand</a:t>
            </a:r>
            <a:r>
              <a:rPr lang="pt-BR" dirty="0"/>
              <a:t> </a:t>
            </a:r>
            <a:r>
              <a:rPr lang="pt-BR" dirty="0" err="1"/>
              <a:t>Line</a:t>
            </a:r>
            <a:endParaRPr lang="pt-BR" dirty="0"/>
          </a:p>
          <a:p>
            <a:pPr marL="347472" lvl="1" indent="0">
              <a:buNone/>
            </a:pPr>
            <a:r>
              <a:rPr lang="pt-BR" dirty="0"/>
              <a:t>Ou</a:t>
            </a:r>
          </a:p>
          <a:p>
            <a:pPr marL="347472" lvl="1" indent="0">
              <a:buNone/>
            </a:pPr>
            <a:r>
              <a:rPr lang="pt-BR" dirty="0"/>
              <a:t>Digitar </a:t>
            </a:r>
            <a:r>
              <a:rPr lang="pt-BR" dirty="0" err="1"/>
              <a:t>cmd</a:t>
            </a:r>
            <a:endParaRPr lang="pt-BR" dirty="0"/>
          </a:p>
          <a:p>
            <a:pPr marL="347472" lvl="1" indent="0">
              <a:buNone/>
            </a:pPr>
            <a:r>
              <a:rPr lang="pt-BR" dirty="0"/>
              <a:t>Entrar em C:\arquivos de programas\</a:t>
            </a:r>
            <a:r>
              <a:rPr lang="pt-BR" dirty="0" err="1"/>
              <a:t>mysql</a:t>
            </a:r>
            <a:r>
              <a:rPr lang="pt-BR" dirty="0"/>
              <a:t>\</a:t>
            </a:r>
            <a:r>
              <a:rPr lang="pt-BR" dirty="0" err="1"/>
              <a:t>mysql</a:t>
            </a:r>
            <a:r>
              <a:rPr lang="pt-BR" dirty="0"/>
              <a:t> server 5.7\bin</a:t>
            </a:r>
          </a:p>
          <a:p>
            <a:pPr marL="0" indent="0">
              <a:buNone/>
            </a:pPr>
            <a:r>
              <a:rPr lang="pt-BR" dirty="0"/>
              <a:t>Entre na pasta BIN do MYSQL e digite</a:t>
            </a:r>
            <a:r>
              <a:rPr lang="pt-BR" dirty="0">
                <a:sym typeface="Wingdings"/>
              </a:rPr>
              <a:t></a:t>
            </a:r>
            <a:r>
              <a:rPr lang="pt-BR" dirty="0"/>
              <a:t> </a:t>
            </a:r>
            <a:r>
              <a:rPr lang="pt-BR" dirty="0" err="1"/>
              <a:t>mysql</a:t>
            </a:r>
            <a:r>
              <a:rPr lang="pt-BR" dirty="0"/>
              <a:t> –u root –p &lt;ENTER&gt; e digite a senha</a:t>
            </a:r>
          </a:p>
        </p:txBody>
      </p:sp>
    </p:spTree>
    <p:extLst>
      <p:ext uri="{BB962C8B-B14F-4D97-AF65-F5344CB8AC3E}">
        <p14:creationId xmlns:p14="http://schemas.microsoft.com/office/powerpoint/2010/main" val="2819589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2144</TotalTime>
  <Words>844</Words>
  <Application>Microsoft Office PowerPoint</Application>
  <PresentationFormat>Apresentação na tela (4:3)</PresentationFormat>
  <Paragraphs>77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Calibri</vt:lpstr>
      <vt:lpstr>Verdana</vt:lpstr>
      <vt:lpstr>Wingdings</vt:lpstr>
      <vt:lpstr>Wingdings 2</vt:lpstr>
      <vt:lpstr>Aspecto</vt:lpstr>
      <vt:lpstr> “Ambientação SQL”</vt:lpstr>
      <vt:lpstr>SGBDs do mercado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 para Redes “Ambientação”</dc:title>
  <dc:creator>Josyane-Netbook</dc:creator>
  <cp:lastModifiedBy>josyane</cp:lastModifiedBy>
  <cp:revision>53</cp:revision>
  <dcterms:modified xsi:type="dcterms:W3CDTF">2025-01-26T17:10:20Z</dcterms:modified>
</cp:coreProperties>
</file>