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7" r:id="rId12"/>
    <p:sldId id="268" r:id="rId13"/>
    <p:sldId id="273" r:id="rId14"/>
    <p:sldId id="269" r:id="rId15"/>
    <p:sldId id="270" r:id="rId16"/>
    <p:sldId id="272" r:id="rId17"/>
    <p:sldId id="271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3463-2220-4ADA-890D-5858784AE3B3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94E2-4474-4E59-82D1-E03927F538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01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3463-2220-4ADA-890D-5858784AE3B3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94E2-4474-4E59-82D1-E03927F538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504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3463-2220-4ADA-890D-5858784AE3B3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94E2-4474-4E59-82D1-E03927F538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8655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3463-2220-4ADA-890D-5858784AE3B3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94E2-4474-4E59-82D1-E03927F538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836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3463-2220-4ADA-890D-5858784AE3B3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94E2-4474-4E59-82D1-E03927F538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677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3463-2220-4ADA-890D-5858784AE3B3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94E2-4474-4E59-82D1-E03927F538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82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3463-2220-4ADA-890D-5858784AE3B3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94E2-4474-4E59-82D1-E03927F538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709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3463-2220-4ADA-890D-5858784AE3B3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94E2-4474-4E59-82D1-E03927F538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83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3463-2220-4ADA-890D-5858784AE3B3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94E2-4474-4E59-82D1-E03927F538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45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3463-2220-4ADA-890D-5858784AE3B3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94E2-4474-4E59-82D1-E03927F538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88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3463-2220-4ADA-890D-5858784AE3B3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94E2-4474-4E59-82D1-E03927F538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330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23463-2220-4ADA-890D-5858784AE3B3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94E2-4474-4E59-82D1-E03927F538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51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491880" y="1961406"/>
            <a:ext cx="5472608" cy="1971650"/>
          </a:xfrm>
        </p:spPr>
        <p:txBody>
          <a:bodyPr>
            <a:normAutofit fontScale="90000"/>
          </a:bodyPr>
          <a:lstStyle/>
          <a:p>
            <a:r>
              <a:rPr lang="pt-BR" sz="6000" dirty="0"/>
              <a:t>Modelo Relacional</a:t>
            </a:r>
            <a:br>
              <a:rPr lang="pt-BR" sz="6000" dirty="0"/>
            </a:br>
            <a:br>
              <a:rPr lang="pt-BR" dirty="0"/>
            </a:br>
            <a:r>
              <a:rPr lang="pt-BR" b="1" dirty="0"/>
              <a:t>Valores Nulos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55576" y="5924872"/>
            <a:ext cx="8064896" cy="816496"/>
          </a:xfrm>
        </p:spPr>
        <p:txBody>
          <a:bodyPr/>
          <a:lstStyle/>
          <a:p>
            <a:r>
              <a:rPr lang="pt-BR" dirty="0" err="1"/>
              <a:t>Profa</a:t>
            </a:r>
            <a:r>
              <a:rPr lang="pt-BR" dirty="0"/>
              <a:t> </a:t>
            </a:r>
            <a:r>
              <a:rPr lang="pt-BR" dirty="0" err="1"/>
              <a:t>MsC</a:t>
            </a:r>
            <a:r>
              <a:rPr lang="pt-BR" dirty="0"/>
              <a:t> </a:t>
            </a:r>
            <a:r>
              <a:rPr lang="pt-BR" dirty="0" err="1"/>
              <a:t>Josyane</a:t>
            </a:r>
            <a:r>
              <a:rPr lang="pt-BR" dirty="0"/>
              <a:t> Lannes Florenzano de Souza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80728"/>
            <a:ext cx="3009900" cy="405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069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1844824"/>
            <a:ext cx="8964488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8988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52" y="1938536"/>
            <a:ext cx="8562828" cy="2498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2429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8" y="2030380"/>
            <a:ext cx="9086652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768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8" y="2780928"/>
            <a:ext cx="9002536" cy="995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6732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Restrições</a:t>
            </a:r>
            <a:r>
              <a:rPr lang="en-US" dirty="0"/>
              <a:t> de </a:t>
            </a:r>
            <a:r>
              <a:rPr lang="en-US" dirty="0" err="1"/>
              <a:t>Integridade</a:t>
            </a:r>
            <a:br>
              <a:rPr lang="en-US" dirty="0"/>
            </a:br>
            <a:r>
              <a:rPr lang="en-US" dirty="0" err="1"/>
              <a:t>Regra</a:t>
            </a:r>
            <a:r>
              <a:rPr lang="en-US" dirty="0"/>
              <a:t> 1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73" y="2276872"/>
            <a:ext cx="8898023" cy="2005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 flipV="1">
            <a:off x="683568" y="4437112"/>
            <a:ext cx="396044" cy="1656184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834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Restrições</a:t>
            </a:r>
            <a:r>
              <a:rPr lang="en-US" dirty="0"/>
              <a:t> de </a:t>
            </a:r>
            <a:r>
              <a:rPr lang="en-US" dirty="0" err="1"/>
              <a:t>Integridade</a:t>
            </a:r>
            <a:br>
              <a:rPr lang="en-US" dirty="0"/>
            </a:br>
            <a:r>
              <a:rPr lang="en-US" dirty="0" err="1"/>
              <a:t>Regra</a:t>
            </a:r>
            <a:r>
              <a:rPr lang="en-US" dirty="0"/>
              <a:t> 2</a:t>
            </a:r>
            <a:endParaRPr lang="pt-BR" dirty="0"/>
          </a:p>
        </p:txBody>
      </p:sp>
      <p:cxnSp>
        <p:nvCxnSpPr>
          <p:cNvPr id="5" name="Conector de seta reta 4"/>
          <p:cNvCxnSpPr/>
          <p:nvPr/>
        </p:nvCxnSpPr>
        <p:spPr>
          <a:xfrm>
            <a:off x="467544" y="1052736"/>
            <a:ext cx="818851" cy="1368153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20889"/>
            <a:ext cx="9144000" cy="134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9746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8" y="116632"/>
            <a:ext cx="9084086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420" y="836712"/>
            <a:ext cx="9408907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733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Atividade</a:t>
            </a:r>
            <a:r>
              <a:rPr lang="en-US" dirty="0"/>
              <a:t> de </a:t>
            </a:r>
            <a:r>
              <a:rPr lang="en-US" dirty="0" err="1"/>
              <a:t>sala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Elabore</a:t>
            </a:r>
            <a:r>
              <a:rPr lang="en-US" dirty="0"/>
              <a:t> parte do DER do </a:t>
            </a:r>
            <a:r>
              <a:rPr lang="en-US" dirty="0" err="1"/>
              <a:t>cenário</a:t>
            </a:r>
            <a:r>
              <a:rPr lang="en-US" dirty="0"/>
              <a:t> </a:t>
            </a:r>
            <a:r>
              <a:rPr lang="en-US" dirty="0" err="1"/>
              <a:t>mostrado</a:t>
            </a:r>
            <a:r>
              <a:rPr lang="en-US" dirty="0"/>
              <a:t> no slide anterior (</a:t>
            </a:r>
            <a:r>
              <a:rPr lang="en-US" dirty="0" err="1"/>
              <a:t>mostre</a:t>
            </a:r>
            <a:r>
              <a:rPr lang="en-US" dirty="0"/>
              <a:t> </a:t>
            </a:r>
            <a:r>
              <a:rPr lang="en-US" dirty="0" err="1"/>
              <a:t>entidades</a:t>
            </a:r>
            <a:r>
              <a:rPr lang="en-US" dirty="0"/>
              <a:t>, </a:t>
            </a:r>
            <a:r>
              <a:rPr lang="en-US" dirty="0" err="1"/>
              <a:t>atributos</a:t>
            </a:r>
            <a:r>
              <a:rPr lang="en-US" dirty="0"/>
              <a:t>, </a:t>
            </a:r>
            <a:r>
              <a:rPr lang="en-US" dirty="0" err="1"/>
              <a:t>chaves</a:t>
            </a:r>
            <a:r>
              <a:rPr lang="en-US" dirty="0"/>
              <a:t> </a:t>
            </a:r>
            <a:r>
              <a:rPr lang="en-US" dirty="0" err="1"/>
              <a:t>primárias</a:t>
            </a:r>
            <a:r>
              <a:rPr lang="en-US" dirty="0"/>
              <a:t> e </a:t>
            </a:r>
            <a:r>
              <a:rPr lang="en-US" dirty="0" err="1"/>
              <a:t>estrangeiras</a:t>
            </a:r>
            <a:r>
              <a:rPr lang="en-US" dirty="0"/>
              <a:t>) </a:t>
            </a:r>
          </a:p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seguida</a:t>
            </a:r>
            <a:r>
              <a:rPr lang="en-US" dirty="0"/>
              <a:t>, </a:t>
            </a:r>
            <a:r>
              <a:rPr lang="en-US" dirty="0" err="1"/>
              <a:t>crie</a:t>
            </a:r>
            <a:r>
              <a:rPr lang="en-US" dirty="0"/>
              <a:t> um BD </a:t>
            </a:r>
            <a:r>
              <a:rPr lang="en-US" dirty="0" err="1"/>
              <a:t>chamado</a:t>
            </a:r>
            <a:r>
              <a:rPr lang="en-US" dirty="0"/>
              <a:t> “</a:t>
            </a:r>
            <a:r>
              <a:rPr lang="en-US" dirty="0" err="1"/>
              <a:t>Fábrica</a:t>
            </a:r>
            <a:r>
              <a:rPr lang="en-US" dirty="0"/>
              <a:t>” e </a:t>
            </a:r>
            <a:r>
              <a:rPr lang="en-US" dirty="0" err="1"/>
              <a:t>suas</a:t>
            </a:r>
            <a:r>
              <a:rPr lang="en-US" dirty="0"/>
              <a:t> </a:t>
            </a:r>
            <a:r>
              <a:rPr lang="en-US" dirty="0" err="1"/>
              <a:t>respectivas</a:t>
            </a:r>
            <a:r>
              <a:rPr lang="en-US" dirty="0"/>
              <a:t> </a:t>
            </a:r>
            <a:r>
              <a:rPr lang="en-US" dirty="0" err="1"/>
              <a:t>tabelas</a:t>
            </a:r>
            <a:r>
              <a:rPr lang="en-US" dirty="0"/>
              <a:t> (</a:t>
            </a:r>
            <a:r>
              <a:rPr lang="en-US" dirty="0" err="1"/>
              <a:t>Funcionários</a:t>
            </a:r>
            <a:r>
              <a:rPr lang="en-US" dirty="0"/>
              <a:t> e </a:t>
            </a:r>
            <a:r>
              <a:rPr lang="en-US" dirty="0" err="1"/>
              <a:t>Dependentes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Obs</a:t>
            </a:r>
            <a:r>
              <a:rPr lang="en-US" dirty="0"/>
              <a:t>: </a:t>
            </a:r>
            <a:r>
              <a:rPr lang="en-US" dirty="0" err="1"/>
              <a:t>Elabore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comandos</a:t>
            </a:r>
            <a:r>
              <a:rPr lang="en-US" dirty="0"/>
              <a:t> de forma textual; </a:t>
            </a:r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implemente</a:t>
            </a:r>
            <a:r>
              <a:rPr lang="en-US" dirty="0"/>
              <a:t> no MySQL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9064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Restrições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atributos</a:t>
            </a:r>
            <a:endParaRPr lang="pt-BR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008" y="2223907"/>
            <a:ext cx="9324528" cy="2100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1652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Restrições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atributos</a:t>
            </a:r>
            <a:endParaRPr lang="pt-B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2780929"/>
            <a:ext cx="8764318" cy="33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68760"/>
            <a:ext cx="9217024" cy="1507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1328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585602"/>
            <a:ext cx="8835581" cy="86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4806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1631878"/>
              </p:ext>
            </p:extLst>
          </p:nvPr>
        </p:nvGraphicFramePr>
        <p:xfrm>
          <a:off x="457200" y="1600200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Josyane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Marcos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José Maria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 algn="r"/>
            <a:r>
              <a:rPr lang="en-US" sz="2400" dirty="0" err="1"/>
              <a:t>Exercício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>
                <a:highlight>
                  <a:srgbClr val="FFFF00"/>
                </a:highlight>
              </a:rPr>
              <a:t>db_empresa</a:t>
            </a:r>
            <a:br>
              <a:rPr lang="en-US" sz="2400" dirty="0"/>
            </a:br>
            <a:r>
              <a:rPr lang="en-US" sz="2400" dirty="0" err="1"/>
              <a:t>Funcionario-Dependentes</a:t>
            </a:r>
            <a:endParaRPr lang="pt-BR" sz="2400" dirty="0"/>
          </a:p>
        </p:txBody>
      </p:sp>
      <p:graphicFrame>
        <p:nvGraphicFramePr>
          <p:cNvPr id="6" name="Espaço Reservado para Conteúd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3494682"/>
              </p:ext>
            </p:extLst>
          </p:nvPr>
        </p:nvGraphicFramePr>
        <p:xfrm>
          <a:off x="467544" y="4365104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Gabriel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Rafael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José</a:t>
                      </a:r>
                      <a:r>
                        <a:rPr lang="en-US" baseline="0" dirty="0"/>
                        <a:t> Maria Filho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Diego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Diogo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467544" y="1268760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TB_Funcionarios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467544" y="3995772"/>
            <a:ext cx="1791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TB_Dependentes</a:t>
            </a: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D2FD669-9AAA-4450-AA25-099FE5326AF6}"/>
              </a:ext>
            </a:extLst>
          </p:cNvPr>
          <p:cNvSpPr txBox="1"/>
          <p:nvPr/>
        </p:nvSpPr>
        <p:spPr>
          <a:xfrm>
            <a:off x="-491449" y="266472"/>
            <a:ext cx="2646248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Tb_Funcionario</a:t>
            </a:r>
            <a:endParaRPr lang="pt-BR" dirty="0"/>
          </a:p>
          <a:p>
            <a:r>
              <a:rPr lang="pt-BR" u="sng" dirty="0" err="1"/>
              <a:t>Mat</a:t>
            </a:r>
            <a:r>
              <a:rPr lang="pt-BR" dirty="0" err="1"/>
              <a:t>_func</a:t>
            </a:r>
            <a:r>
              <a:rPr lang="pt-BR" dirty="0"/>
              <a:t> INT</a:t>
            </a:r>
          </a:p>
          <a:p>
            <a:r>
              <a:rPr lang="pt-BR" dirty="0" err="1"/>
              <a:t>Nome_fun</a:t>
            </a:r>
            <a:r>
              <a:rPr lang="pt-BR" dirty="0"/>
              <a:t> VARCHAR (40)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1A0754E-F070-4E04-9327-C96F31D6DA61}"/>
              </a:ext>
            </a:extLst>
          </p:cNvPr>
          <p:cNvSpPr txBox="1"/>
          <p:nvPr/>
        </p:nvSpPr>
        <p:spPr>
          <a:xfrm>
            <a:off x="3458608" y="305867"/>
            <a:ext cx="2646248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Tb_Dependente</a:t>
            </a:r>
            <a:endParaRPr lang="pt-BR" dirty="0"/>
          </a:p>
          <a:p>
            <a:r>
              <a:rPr lang="pt-BR" dirty="0"/>
              <a:t>ID INT</a:t>
            </a:r>
          </a:p>
          <a:p>
            <a:r>
              <a:rPr lang="pt-BR" dirty="0" err="1"/>
              <a:t>Nome_dep</a:t>
            </a:r>
            <a:r>
              <a:rPr lang="pt-BR" dirty="0"/>
              <a:t> VARCHAR (40)</a:t>
            </a:r>
          </a:p>
          <a:p>
            <a:r>
              <a:rPr lang="pt-BR" dirty="0" err="1"/>
              <a:t>Mat_func</a:t>
            </a:r>
            <a:r>
              <a:rPr lang="pt-BR" dirty="0"/>
              <a:t> INT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20E5DEE-A71A-4283-B0F4-F7BE31A54E50}"/>
              </a:ext>
            </a:extLst>
          </p:cNvPr>
          <p:cNvSpPr txBox="1"/>
          <p:nvPr/>
        </p:nvSpPr>
        <p:spPr>
          <a:xfrm>
            <a:off x="2105680" y="47667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1,1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F3F4059-8766-4C4F-BED3-60DFDB764D35}"/>
              </a:ext>
            </a:extLst>
          </p:cNvPr>
          <p:cNvSpPr txBox="1"/>
          <p:nvPr/>
        </p:nvSpPr>
        <p:spPr>
          <a:xfrm>
            <a:off x="2782144" y="47667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0,n</a:t>
            </a:r>
          </a:p>
        </p:txBody>
      </p:sp>
    </p:spTree>
    <p:extLst>
      <p:ext uri="{BB962C8B-B14F-4D97-AF65-F5344CB8AC3E}">
        <p14:creationId xmlns:p14="http://schemas.microsoft.com/office/powerpoint/2010/main" val="88596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Exercício</a:t>
            </a:r>
            <a:r>
              <a:rPr lang="en-US" dirty="0"/>
              <a:t> BD </a:t>
            </a:r>
            <a:r>
              <a:rPr lang="en-US" dirty="0" err="1"/>
              <a:t>Funcionario-Dependentes</a:t>
            </a:r>
            <a:endParaRPr lang="pt-B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8760"/>
            <a:ext cx="8706689" cy="4424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-36512" y="5589240"/>
            <a:ext cx="93058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Create </a:t>
            </a:r>
            <a:r>
              <a:rPr lang="en-US" b="1" dirty="0" err="1"/>
              <a:t>Dependentes</a:t>
            </a:r>
            <a:r>
              <a:rPr lang="en-US" b="1" dirty="0"/>
              <a:t> </a:t>
            </a:r>
            <a:endParaRPr lang="pt-BR" dirty="0"/>
          </a:p>
          <a:p>
            <a:r>
              <a:rPr lang="en-US" b="1" dirty="0"/>
              <a:t>(</a:t>
            </a:r>
            <a:r>
              <a:rPr lang="en-US" b="1" dirty="0" err="1"/>
              <a:t>numf</a:t>
            </a:r>
            <a:r>
              <a:rPr lang="en-US" b="1" dirty="0"/>
              <a:t> char (4) not null, </a:t>
            </a:r>
            <a:endParaRPr lang="pt-BR" dirty="0"/>
          </a:p>
          <a:p>
            <a:r>
              <a:rPr lang="en-US" b="1" dirty="0" err="1"/>
              <a:t>nomedep</a:t>
            </a:r>
            <a:r>
              <a:rPr lang="en-US" b="1" dirty="0"/>
              <a:t> </a:t>
            </a:r>
            <a:r>
              <a:rPr lang="en-US" b="1" dirty="0" err="1"/>
              <a:t>varchar</a:t>
            </a:r>
            <a:r>
              <a:rPr lang="en-US" b="1" dirty="0"/>
              <a:t> (40), </a:t>
            </a:r>
            <a:endParaRPr lang="pt-BR" dirty="0"/>
          </a:p>
          <a:p>
            <a:r>
              <a:rPr lang="en-US" b="1" dirty="0"/>
              <a:t>constraint </a:t>
            </a:r>
            <a:r>
              <a:rPr lang="en-US" b="1" dirty="0" err="1"/>
              <a:t>FK_Funcionario_Dependentes</a:t>
            </a:r>
            <a:r>
              <a:rPr lang="en-US" b="1" dirty="0"/>
              <a:t> foreign key (</a:t>
            </a:r>
            <a:r>
              <a:rPr lang="en-US" b="1" dirty="0" err="1"/>
              <a:t>numf</a:t>
            </a:r>
            <a:r>
              <a:rPr lang="en-US" b="1" dirty="0"/>
              <a:t>) references </a:t>
            </a:r>
            <a:r>
              <a:rPr lang="en-US" b="1" dirty="0" err="1"/>
              <a:t>TB_Funcionario</a:t>
            </a:r>
            <a:r>
              <a:rPr lang="en-US" b="1" dirty="0"/>
              <a:t> (</a:t>
            </a:r>
            <a:r>
              <a:rPr lang="en-US" b="1" dirty="0" err="1"/>
              <a:t>numf</a:t>
            </a:r>
            <a:r>
              <a:rPr lang="en-US" b="1" dirty="0"/>
              <a:t>));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4031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Exercício</a:t>
            </a:r>
            <a:r>
              <a:rPr lang="en-US" dirty="0"/>
              <a:t> BD </a:t>
            </a:r>
            <a:r>
              <a:rPr lang="en-US" dirty="0" err="1"/>
              <a:t>Funcionario-Dependentes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71586"/>
            <a:ext cx="7894973" cy="4000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3574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Exercício</a:t>
            </a:r>
            <a:r>
              <a:rPr lang="en-US" dirty="0"/>
              <a:t> BD </a:t>
            </a:r>
            <a:r>
              <a:rPr lang="en-US" dirty="0" err="1"/>
              <a:t>Funcionario-Dependentes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32358"/>
            <a:ext cx="8124553" cy="414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7331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Exercício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 err="1"/>
              <a:t>Vendas-Cidade-Produto-Cliente</a:t>
            </a:r>
            <a:r>
              <a:rPr lang="en-US" sz="2800" dirty="0"/>
              <a:t> </a:t>
            </a:r>
            <a:endParaRPr lang="pt-BR" sz="2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Esquema</a:t>
            </a:r>
            <a:r>
              <a:rPr lang="en-US" dirty="0"/>
              <a:t> </a:t>
            </a:r>
            <a:r>
              <a:rPr lang="en-US" dirty="0" err="1"/>
              <a:t>relacional</a:t>
            </a:r>
            <a:r>
              <a:rPr lang="en-US" dirty="0"/>
              <a:t> </a:t>
            </a:r>
            <a:r>
              <a:rPr lang="en-US" dirty="0" err="1"/>
              <a:t>deste</a:t>
            </a:r>
            <a:r>
              <a:rPr lang="en-US" dirty="0"/>
              <a:t> </a:t>
            </a:r>
            <a:r>
              <a:rPr lang="en-US" dirty="0" err="1"/>
              <a:t>cenário</a:t>
            </a:r>
            <a:endParaRPr lang="en-US" dirty="0"/>
          </a:p>
          <a:p>
            <a:r>
              <a:rPr lang="pt-BR" b="1" dirty="0"/>
              <a:t>Cidade </a:t>
            </a:r>
            <a:r>
              <a:rPr lang="pt-BR" dirty="0"/>
              <a:t>(</a:t>
            </a:r>
            <a:r>
              <a:rPr lang="pt-BR" u="sng" dirty="0" err="1"/>
              <a:t>Codcidade</a:t>
            </a:r>
            <a:r>
              <a:rPr lang="pt-BR" dirty="0"/>
              <a:t>, Nome, Estado).</a:t>
            </a:r>
          </a:p>
          <a:p>
            <a:r>
              <a:rPr lang="pt-BR" b="1" dirty="0"/>
              <a:t>Cliente </a:t>
            </a:r>
            <a:r>
              <a:rPr lang="pt-BR" dirty="0"/>
              <a:t>(</a:t>
            </a:r>
            <a:r>
              <a:rPr lang="pt-BR" u="sng" dirty="0" err="1"/>
              <a:t>Codcliente</a:t>
            </a:r>
            <a:r>
              <a:rPr lang="pt-BR" u="sng" dirty="0"/>
              <a:t>, </a:t>
            </a:r>
            <a:r>
              <a:rPr lang="pt-BR" u="sng" dirty="0" err="1"/>
              <a:t>Codcidade</a:t>
            </a:r>
            <a:r>
              <a:rPr lang="pt-BR" dirty="0"/>
              <a:t>, Nome, </a:t>
            </a:r>
            <a:r>
              <a:rPr lang="pt-BR" dirty="0" err="1"/>
              <a:t>Endereco</a:t>
            </a:r>
            <a:r>
              <a:rPr lang="pt-BR" dirty="0"/>
              <a:t>, </a:t>
            </a:r>
            <a:r>
              <a:rPr lang="pt-BR" dirty="0" err="1"/>
              <a:t>Cep</a:t>
            </a:r>
            <a:r>
              <a:rPr lang="pt-BR" dirty="0"/>
              <a:t>, Telefone).</a:t>
            </a:r>
          </a:p>
          <a:p>
            <a:r>
              <a:rPr lang="pt-BR" b="1" dirty="0"/>
              <a:t>Produto </a:t>
            </a:r>
            <a:r>
              <a:rPr lang="pt-BR" dirty="0"/>
              <a:t>(</a:t>
            </a:r>
            <a:r>
              <a:rPr lang="pt-BR" u="sng" dirty="0" err="1"/>
              <a:t>Codproduto</a:t>
            </a:r>
            <a:r>
              <a:rPr lang="pt-BR" dirty="0"/>
              <a:t>, Nome, </a:t>
            </a:r>
            <a:r>
              <a:rPr lang="pt-BR" dirty="0" err="1"/>
              <a:t>ValorUnitario</a:t>
            </a:r>
            <a:r>
              <a:rPr lang="pt-BR" dirty="0"/>
              <a:t>).</a:t>
            </a:r>
          </a:p>
          <a:p>
            <a:r>
              <a:rPr lang="pt-BR" b="1" dirty="0"/>
              <a:t>Venda </a:t>
            </a:r>
            <a:r>
              <a:rPr lang="pt-BR" dirty="0"/>
              <a:t>(</a:t>
            </a:r>
            <a:r>
              <a:rPr lang="pt-BR" u="sng" dirty="0" err="1"/>
              <a:t>Codvenda</a:t>
            </a:r>
            <a:r>
              <a:rPr lang="pt-BR" u="sng" dirty="0"/>
              <a:t>, </a:t>
            </a:r>
            <a:r>
              <a:rPr lang="pt-BR" u="sng" dirty="0" err="1"/>
              <a:t>Codcliente</a:t>
            </a:r>
            <a:r>
              <a:rPr lang="pt-BR" u="sng" dirty="0"/>
              <a:t>, </a:t>
            </a:r>
            <a:r>
              <a:rPr lang="pt-BR" u="sng" dirty="0" err="1"/>
              <a:t>Codproduto</a:t>
            </a:r>
            <a:r>
              <a:rPr lang="pt-BR" dirty="0"/>
              <a:t>, Quantidade).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1032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/>
              <a:t>Criando</a:t>
            </a:r>
            <a:r>
              <a:rPr lang="en-US" dirty="0"/>
              <a:t> Database Loja</a:t>
            </a:r>
            <a:endParaRPr lang="pt-BR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7" y="4653136"/>
            <a:ext cx="9042941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7417" y="1484784"/>
            <a:ext cx="9463953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467544" y="35821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Criando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TB_Cidade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1347" y="2996952"/>
            <a:ext cx="17540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USE Loja;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2047054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TB_Cliente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420888"/>
            <a:ext cx="8670950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7782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TB_Produto</a:t>
            </a:r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068960"/>
            <a:ext cx="9156634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2182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TB_Venda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270461"/>
            <a:ext cx="8886932" cy="2166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7270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Pesquisar</a:t>
            </a:r>
            <a:r>
              <a:rPr lang="en-US" dirty="0"/>
              <a:t> e </a:t>
            </a:r>
            <a:r>
              <a:rPr lang="en-US" dirty="0" err="1"/>
              <a:t>testar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9592" y="2420888"/>
            <a:ext cx="6840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Generatedata.com</a:t>
            </a:r>
          </a:p>
        </p:txBody>
      </p:sp>
    </p:spTree>
    <p:extLst>
      <p:ext uri="{BB962C8B-B14F-4D97-AF65-F5344CB8AC3E}">
        <p14:creationId xmlns:p14="http://schemas.microsoft.com/office/powerpoint/2010/main" val="3389916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6522</TotalTime>
  <Words>277</Words>
  <Application>Microsoft Office PowerPoint</Application>
  <PresentationFormat>Apresentação na tela (4:3)</PresentationFormat>
  <Paragraphs>62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5" baseType="lpstr">
      <vt:lpstr>Arial</vt:lpstr>
      <vt:lpstr>Calibri</vt:lpstr>
      <vt:lpstr>Tema do Office</vt:lpstr>
      <vt:lpstr>Modelo Relacional  Valores Nulos</vt:lpstr>
      <vt:lpstr>Apresentação do PowerPoint</vt:lpstr>
      <vt:lpstr>Apresentação do PowerPoint</vt:lpstr>
      <vt:lpstr>Apresentação do PowerPoint</vt:lpstr>
      <vt:lpstr>Apresentação do PowerPoint</vt:lpstr>
      <vt:lpstr>Restrições de Integridade Regra 1</vt:lpstr>
      <vt:lpstr>Restrições de Integridade Regra 2</vt:lpstr>
      <vt:lpstr>Apresentação do PowerPoint</vt:lpstr>
      <vt:lpstr>Atividade de sala</vt:lpstr>
      <vt:lpstr>Restrições sobre atributos</vt:lpstr>
      <vt:lpstr>Restrições sobre atributos</vt:lpstr>
      <vt:lpstr>Apresentação do PowerPoint</vt:lpstr>
      <vt:lpstr>Exercício  db_empresa Funcionario-Dependentes</vt:lpstr>
      <vt:lpstr>Exercício BD Funcionario-Dependentes</vt:lpstr>
      <vt:lpstr>Exercício BD Funcionario-Dependentes</vt:lpstr>
      <vt:lpstr>Exercício BD Funcionario-Dependentes</vt:lpstr>
      <vt:lpstr>Exercício  Vendas-Cidade-Produto-Cliente </vt:lpstr>
      <vt:lpstr>Criando Database Loja</vt:lpstr>
      <vt:lpstr>Criando Tabela TB_Cliente</vt:lpstr>
      <vt:lpstr>Criando Tabela TB_Produto</vt:lpstr>
      <vt:lpstr>Criando Tabela TB_Venda</vt:lpstr>
      <vt:lpstr>Pesquisar e testar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Josyane</dc:creator>
  <cp:lastModifiedBy>Josyane Lannes Florenzano De Souza</cp:lastModifiedBy>
  <cp:revision>191</cp:revision>
  <dcterms:created xsi:type="dcterms:W3CDTF">2012-02-17T12:08:46Z</dcterms:created>
  <dcterms:modified xsi:type="dcterms:W3CDTF">2026-08-30T17:48:12Z</dcterms:modified>
</cp:coreProperties>
</file>